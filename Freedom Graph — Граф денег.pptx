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ITC-Hacks/hack-0b94fdb6-ascend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еть денежных переводов: потоки сходятся в узлы консолидации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5461000" y="0"/>
            <a:ext cx="6731000" cy="6858000"/>
          </a:xfrm>
          <a:prstGeom prst="rect">
            <a:avLst/>
          </a:prstGeom>
        </p:spPr>
      </p:pic>
      <p:pic>
        <p:nvPicPr>
          <p:cNvPr id="3" name="Image 1" descr="Логотип Freedom Graph">    </p:cNvPr>
          <p:cNvPicPr>
            <a:picLocks noChangeAspect="1"/>
          </p:cNvPicPr>
          <p:nvPr/>
        </p:nvPicPr>
        <p:blipFill>
          <a:blip r:embed="rId2"/>
          <a:srcRect l="0" r="0" t="-1948" b="-1948"/>
          <a:stretch/>
        </p:blipFill>
        <p:spPr>
          <a:xfrm>
            <a:off x="812800" y="812800"/>
            <a:ext cx="609600" cy="60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74800" y="993140"/>
            <a:ext cx="252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FREEDOM GRAPH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12800" y="2021840"/>
            <a:ext cx="6278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HACKALEM AI · КЕЙС «ГРАФ ДЕНЕГ»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2800" y="2438400"/>
            <a:ext cx="62788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Граф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денег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812800" y="4241800"/>
            <a:ext cx="56248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Восстанавливаем финансовую структуру группы по сети переводов — за минуты, а не недели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2800" y="58318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 Ascend · AML-аналитика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Известен только нижний уровень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57120"/>
            <a:ext cx="444754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169920"/>
            <a:ext cx="4447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 известен из оперативной информации</a:t>
            </a:r>
            <a:endParaRPr lang="en-US" sz="1400" dirty="0"/>
          </a:p>
        </p:txBody>
      </p:sp>
      <p:pic>
        <p:nvPicPr>
          <p:cNvPr id="6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596640"/>
            <a:ext cx="2540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4130040"/>
            <a:ext cx="444754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2 248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12800" y="4942840"/>
            <a:ext cx="44475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узлов в реальной сети переводов — почти в 28 раз больше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40400" y="2291715"/>
            <a:ext cx="56388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40400" y="2471420"/>
            <a:ext cx="58079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Часы на один узел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40400" y="2852420"/>
            <a:ext cx="580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Цепочку на 4 колена аналитик трассирует вручную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40400" y="3282315"/>
            <a:ext cx="56388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0400" y="3462020"/>
            <a:ext cx="58079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Блокируется только низ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740400" y="3843020"/>
            <a:ext cx="580796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Организаторы сохраняют инфраструктуру и восстанавливают её за дни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40400" y="4521835"/>
            <a:ext cx="56388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0400" y="4701540"/>
            <a:ext cx="58079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Приоритет — на интуиции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740400" y="5082540"/>
            <a:ext cx="5807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Нет ранжирования: непонятно, кого проверять первым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E3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2527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0B3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ГЛАВНЫЙ ВОПРОС АНАЛИТИКА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992630"/>
            <a:ext cx="10883392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Кого из 2 248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смотреть первым —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 почему?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646930"/>
            <a:ext cx="81102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0B3B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отвечает ранжированным списком: у каждого узла есть роль, уверенность и понятное обоснование.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Сценарий аналитика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1741170" cy="2002790"/>
          </a:xfrm>
          <a:prstGeom prst="roundRect">
            <a:avLst>
              <a:gd name="adj" fmla="val 711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138680"/>
            <a:ext cx="1432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5680" y="2595880"/>
            <a:ext cx="143256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Получает список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5680" y="314198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81 клиент, проходящий по делу</a:t>
            </a:r>
            <a:endParaRPr lang="en-US" sz="1200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1920" y="2909570"/>
            <a:ext cx="2540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0695" y="1958975"/>
            <a:ext cx="1741170" cy="2002790"/>
          </a:xfrm>
          <a:prstGeom prst="roundRect">
            <a:avLst>
              <a:gd name="adj" fmla="val 711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138680"/>
            <a:ext cx="1432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200400" y="2595880"/>
            <a:ext cx="143256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Загружает выгрузку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0" y="314198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Переводы на 4 колена: три файла parquet</a:t>
            </a:r>
            <a:endParaRPr lang="en-US" sz="1200" dirty="0"/>
          </a:p>
        </p:txBody>
      </p:sp>
      <p:pic>
        <p:nvPicPr>
          <p:cNvPr id="1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6640" y="2909570"/>
            <a:ext cx="2540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25415" y="1958975"/>
            <a:ext cx="1741170" cy="2002790"/>
          </a:xfrm>
          <a:prstGeom prst="roundRect">
            <a:avLst>
              <a:gd name="adj" fmla="val 711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05120" y="2138680"/>
            <a:ext cx="1432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405120" y="2595880"/>
            <a:ext cx="143256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Запускает расчёт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05120" y="314198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Одна команда: граф, метрики, роли, кластеры</a:t>
            </a:r>
            <a:endParaRPr lang="en-US" sz="1200" dirty="0"/>
          </a:p>
        </p:txBody>
      </p:sp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1360" y="2909570"/>
            <a:ext cx="2540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30135" y="1958975"/>
            <a:ext cx="1741170" cy="2002790"/>
          </a:xfrm>
          <a:prstGeom prst="roundRect">
            <a:avLst>
              <a:gd name="adj" fmla="val 711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609840" y="2138680"/>
            <a:ext cx="1432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7609840" y="2595880"/>
            <a:ext cx="14325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Смотрит схему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609840" y="291973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Потоки, роли и топ-лист с обоснованием</a:t>
            </a:r>
            <a:endParaRPr lang="en-US" sz="1200" dirty="0"/>
          </a:p>
        </p:txBody>
      </p:sp>
      <p:pic>
        <p:nvPicPr>
          <p:cNvPr id="2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6080" y="2909570"/>
            <a:ext cx="2540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34855" y="1958975"/>
            <a:ext cx="1741170" cy="2002790"/>
          </a:xfrm>
          <a:prstGeom prst="roundRect">
            <a:avLst>
              <a:gd name="adj" fmla="val 711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814560" y="2138680"/>
            <a:ext cx="1432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814560" y="2595880"/>
            <a:ext cx="143256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Передаёт на проверку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814560" y="314198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Перечень узлов на углублённую проверку и запрос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5975" y="4717416"/>
            <a:ext cx="10560050" cy="1121410"/>
          </a:xfrm>
          <a:prstGeom prst="roundRect">
            <a:avLst>
              <a:gd name="adj" fmla="val 11042"/>
            </a:avLst>
          </a:prstGeom>
          <a:solidFill>
            <a:srgbClr val="0F2A22"/>
          </a:solidFill>
          <a:ln w="6350">
            <a:solidFill>
              <a:srgbClr val="1F5C47"/>
            </a:solidFill>
            <a:prstDash val="solid"/>
          </a:ln>
        </p:spPr>
      </p:sp>
      <p:pic>
        <p:nvPicPr>
          <p:cNvPr id="29" name="Image 4" descr="Lightning">    </p:cNvPr>
          <p:cNvPicPr>
            <a:picLocks noChangeAspect="1"/>
          </p:cNvPicPr>
          <p:nvPr/>
        </p:nvPicPr>
        <p:blipFill>
          <a:blip r:embed="rId5"/>
          <a:srcRect l="-200" r="-200" t="0" b="0"/>
          <a:stretch/>
        </p:blipFill>
        <p:spPr>
          <a:xfrm>
            <a:off x="1071880" y="5100320"/>
            <a:ext cx="299641" cy="355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74721" y="4947920"/>
            <a:ext cx="98317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Минуты вместо недель: фокус смещается с 81 «курьера» на реальные точки консолидации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ДАТАСЕТ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Входные данные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2749550" cy="1334770"/>
          </a:xfrm>
          <a:prstGeom prst="roundRect">
            <a:avLst>
              <a:gd name="adj" fmla="val 927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164082"/>
            <a:ext cx="240952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2 248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080" y="2661921"/>
            <a:ext cx="2409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узлов (клиентов)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75075" y="1958975"/>
            <a:ext cx="2749550" cy="1334770"/>
          </a:xfrm>
          <a:prstGeom prst="roundRect">
            <a:avLst>
              <a:gd name="adj" fmla="val 927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0180" y="2164082"/>
            <a:ext cx="240952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3 119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980180" y="2661921"/>
            <a:ext cx="24095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рёбер плательщик → получатель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503296"/>
            <a:ext cx="2749550" cy="1121410"/>
          </a:xfrm>
          <a:prstGeom prst="roundRect">
            <a:avLst>
              <a:gd name="adj" fmla="val 1104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708400"/>
            <a:ext cx="240952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4 840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21080" y="4206239"/>
            <a:ext cx="2409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транзакций с датами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75075" y="3503296"/>
            <a:ext cx="2749550" cy="1121410"/>
          </a:xfrm>
          <a:prstGeom prst="roundRect">
            <a:avLst>
              <a:gd name="adj" fmla="val 11042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0180" y="3708400"/>
            <a:ext cx="240952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366 млн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980180" y="4206239"/>
            <a:ext cx="2409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₸ оборот в графе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84800"/>
            <a:ext cx="588645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Июль 2026 · только внутрибанковские исходящие переводы · порог 5 000 ₸ · обход на 4 колена от 81 seed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7400" y="1955800"/>
            <a:ext cx="4369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Узлы по коленам обхода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7400" y="4893946"/>
            <a:ext cx="42418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9180" y="438023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1220" y="4669789"/>
            <a:ext cx="558800" cy="222250"/>
          </a:xfrm>
          <a:prstGeom prst="roundRect">
            <a:avLst>
              <a:gd name="adj" fmla="val 22857"/>
            </a:avLst>
          </a:prstGeom>
          <a:solidFill>
            <a:srgbClr val="AC9BF3"/>
          </a:solidFill>
          <a:ln/>
        </p:spPr>
      </p:sp>
      <p:sp>
        <p:nvSpPr>
          <p:cNvPr id="21" name="Text 19"/>
          <p:cNvSpPr/>
          <p:nvPr/>
        </p:nvSpPr>
        <p:spPr>
          <a:xfrm>
            <a:off x="8242300" y="3313432"/>
            <a:ext cx="3251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0060" y="3602989"/>
            <a:ext cx="558800" cy="1289050"/>
          </a:xfrm>
          <a:prstGeom prst="roundRect">
            <a:avLst>
              <a:gd name="adj" fmla="val 9091"/>
            </a:avLst>
          </a:prstGeom>
          <a:solidFill>
            <a:srgbClr val="3DE3A1"/>
          </a:solidFill>
          <a:ln/>
        </p:spPr>
      </p:sp>
      <p:sp>
        <p:nvSpPr>
          <p:cNvPr id="23" name="Text 21"/>
          <p:cNvSpPr/>
          <p:nvPr/>
        </p:nvSpPr>
        <p:spPr>
          <a:xfrm>
            <a:off x="9121140" y="3338832"/>
            <a:ext cx="3251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78900" y="3628389"/>
            <a:ext cx="558800" cy="1263650"/>
          </a:xfrm>
          <a:prstGeom prst="roundRect">
            <a:avLst>
              <a:gd name="adj" fmla="val 9091"/>
            </a:avLst>
          </a:prstGeom>
          <a:solidFill>
            <a:srgbClr val="3DE3A1"/>
          </a:solidFill>
          <a:ln/>
        </p:spPr>
      </p:sp>
      <p:sp>
        <p:nvSpPr>
          <p:cNvPr id="25" name="Text 23"/>
          <p:cNvSpPr/>
          <p:nvPr/>
        </p:nvSpPr>
        <p:spPr>
          <a:xfrm>
            <a:off x="9999980" y="2443482"/>
            <a:ext cx="3251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789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57740" y="2733039"/>
            <a:ext cx="558800" cy="2159000"/>
          </a:xfrm>
          <a:prstGeom prst="roundRect">
            <a:avLst>
              <a:gd name="adj" fmla="val 9091"/>
            </a:avLst>
          </a:prstGeom>
          <a:solidFill>
            <a:srgbClr val="3DE3A1"/>
          </a:solidFill>
          <a:ln/>
        </p:spPr>
      </p:sp>
      <p:sp>
        <p:nvSpPr>
          <p:cNvPr id="27" name="Text 25"/>
          <p:cNvSpPr/>
          <p:nvPr/>
        </p:nvSpPr>
        <p:spPr>
          <a:xfrm>
            <a:off x="10878820" y="3389632"/>
            <a:ext cx="3251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36580" y="3679189"/>
            <a:ext cx="558800" cy="1212850"/>
          </a:xfrm>
          <a:prstGeom prst="roundRect">
            <a:avLst>
              <a:gd name="adj" fmla="val 9091"/>
            </a:avLst>
          </a:prstGeom>
          <a:solidFill>
            <a:srgbClr val="FF6B74"/>
          </a:solidFill>
          <a:ln/>
        </p:spPr>
      </p:sp>
      <p:sp>
        <p:nvSpPr>
          <p:cNvPr id="29" name="Text 27"/>
          <p:cNvSpPr/>
          <p:nvPr/>
        </p:nvSpPr>
        <p:spPr>
          <a:xfrm>
            <a:off x="7112000" y="5049521"/>
            <a:ext cx="777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90840" y="5049521"/>
            <a:ext cx="777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5049521"/>
            <a:ext cx="777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48520" y="5049521"/>
            <a:ext cx="777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27360" y="5049521"/>
            <a:ext cx="777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7400" y="5415282"/>
            <a:ext cx="43690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Колено 4 — обрыв обхода:</a:t>
            </a:r>
            <a:r>
              <a:rPr lang="en-US" sz="12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исходящие этих узлов не прослежены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КАЧЕСТВО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Ловушки данных и наш ответ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55800"/>
          <a:ext cx="10566400" cy="3627120"/>
        </p:xfrm>
        <a:graphic>
          <a:graphicData uri="http://schemas.openxmlformats.org/drawingml/2006/table">
            <a:tbl>
              <a:tblPr/>
              <a:tblGrid>
                <a:gridCol w="3169920"/>
                <a:gridCol w="2852928"/>
                <a:gridCol w="4543552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AA6B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Особенность данных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AA6B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Наивный подход даст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E3A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Как учли мы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444 узла на 4-м колене без исходящих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9AA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444 ложных «конечных получателя»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 колене 4 роль terminal запрещена, уверенность × 0.8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 seed занижены входящие суммы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9AA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Ложный «транзит» у seed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Правило транзита к seed не применяется, приоритет seed × 0.75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354 узла отдают больше, чем получили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9AA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Ложные аномалии баланса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Флаг external_inflow: неполнота наблюдений, а не нарушение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19 seed без единого перевода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9AA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Узлы пропадают из выгрузок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Свой кластер, роль peripheral, уверенность 0.3 с оговоркой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gid из 18 цифр больше MAX_SAFE_INTEGER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9AA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Искажённые gid в браузере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gid всегда строкой: JSON, API, интерфейс, бот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 → МЕТРИКИ → РОЛИ → 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Схема решения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4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graph/ · Graph Engine · analyze()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8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parquet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48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узлы, рёбра, транзакции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193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82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Валидация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82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сверка сумм и ссылок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227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16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Признаки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16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потоки и betweenness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61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Кластеры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Louvain, seed = 42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295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4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584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правил с порогами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32975" y="20351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11A2C"/>
          </a:solidFill>
          <a:ln w="6350">
            <a:solidFill>
              <a:srgbClr val="2A5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1880" y="21386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Приоритет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61880" y="23863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формула и evidence</a:t>
            </a:r>
            <a:endParaRPr lang="en-US" sz="1200" dirty="0"/>
          </a:p>
        </p:txBody>
      </p:sp>
      <p:pic>
        <p:nvPicPr>
          <p:cNvPr id="2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2425700"/>
            <a:ext cx="381000" cy="101600"/>
          </a:xfrm>
          <a:prstGeom prst="rect">
            <a:avLst/>
          </a:prstGeom>
        </p:spPr>
      </p:pic>
      <p:pic>
        <p:nvPicPr>
          <p:cNvPr id="2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89400" y="2425700"/>
            <a:ext cx="381000" cy="101600"/>
          </a:xfrm>
          <a:prstGeom prst="rect">
            <a:avLst/>
          </a:prstGeom>
        </p:spPr>
      </p:pic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92800" y="2425700"/>
            <a:ext cx="381000" cy="101600"/>
          </a:xfrm>
          <a:prstGeom prst="rect">
            <a:avLst/>
          </a:prstGeom>
        </p:spPr>
      </p:pic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96200" y="2425700"/>
            <a:ext cx="381000" cy="101600"/>
          </a:xfrm>
          <a:prstGeom prst="rect">
            <a:avLst/>
          </a:prstGeom>
        </p:spPr>
      </p:pic>
      <p:pic>
        <p:nvPicPr>
          <p:cNvPr id="2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9600" y="2425700"/>
            <a:ext cx="381000" cy="101600"/>
          </a:xfrm>
          <a:prstGeom prst="rect">
            <a:avLst/>
          </a:prstGeom>
        </p:spPr>
      </p:pic>
      <p:pic>
        <p:nvPicPr>
          <p:cNvPr id="2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41000" y="2870200"/>
            <a:ext cx="101600" cy="6477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12800" y="3594100"/>
            <a:ext cx="510159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Обязательный путь работает </a:t>
            </a:r>
            <a:r>
              <a:rPr lang="en-US" sz="140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офлайн</a:t>
            </a: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без сети, GPU, LLM и платных сервисов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26175" y="34702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5142A"/>
          </a:solidFill>
          <a:ln w="6350">
            <a:solidFill>
              <a:srgbClr val="3E356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355080" y="35737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FastAPI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355080" y="3821432"/>
            <a:ext cx="13106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/api/v1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9832975" y="34702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5142A"/>
          </a:solidFill>
          <a:ln w="6350">
            <a:solidFill>
              <a:srgbClr val="3E356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961880" y="35737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Публикация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961880" y="3821432"/>
            <a:ext cx="13106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snapshot и 3 CSV</a:t>
            </a:r>
            <a:endParaRPr lang="en-US" sz="1200" dirty="0"/>
          </a:p>
        </p:txBody>
      </p:sp>
      <p:pic>
        <p:nvPicPr>
          <p:cNvPr id="36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96200" y="3860800"/>
            <a:ext cx="2184400" cy="101600"/>
          </a:xfrm>
          <a:prstGeom prst="rect">
            <a:avLst/>
          </a:prstGeom>
        </p:spPr>
      </p:pic>
      <p:pic>
        <p:nvPicPr>
          <p:cNvPr id="37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34200" y="4305300"/>
            <a:ext cx="101600" cy="660400"/>
          </a:xfrm>
          <a:prstGeom prst="rect">
            <a:avLst/>
          </a:prstGeom>
        </p:spPr>
      </p:pic>
      <p:pic>
        <p:nvPicPr>
          <p:cNvPr id="38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327400" y="4584700"/>
            <a:ext cx="7315200" cy="101600"/>
          </a:xfrm>
          <a:prstGeom prst="rect">
            <a:avLst/>
          </a:prstGeom>
        </p:spPr>
      </p:pic>
      <p:pic>
        <p:nvPicPr>
          <p:cNvPr id="39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327400" y="4584700"/>
            <a:ext cx="101600" cy="381000"/>
          </a:xfrm>
          <a:prstGeom prst="rect">
            <a:avLst/>
          </a:prstGeom>
        </p:spPr>
      </p:pic>
      <p:pic>
        <p:nvPicPr>
          <p:cNvPr id="40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541000" y="4584700"/>
            <a:ext cx="101600" cy="38100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2619375" y="49180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5142A"/>
          </a:solidFill>
          <a:ln w="6350">
            <a:solidFill>
              <a:srgbClr val="3E3565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2748280" y="50215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Сайт</a:t>
            </a:r>
            <a:endParaRPr lang="en-US" sz="1400" dirty="0"/>
          </a:p>
        </p:txBody>
      </p:sp>
      <p:sp>
        <p:nvSpPr>
          <p:cNvPr id="43" name="Text 30"/>
          <p:cNvSpPr/>
          <p:nvPr/>
        </p:nvSpPr>
        <p:spPr>
          <a:xfrm>
            <a:off x="2748280" y="52692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и Cytoscape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6226175" y="49180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5142A"/>
          </a:solidFill>
          <a:ln w="6350">
            <a:solidFill>
              <a:srgbClr val="3E3565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6355080" y="50215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AI-агент</a:t>
            </a:r>
            <a:endParaRPr lang="en-US" sz="1400" dirty="0"/>
          </a:p>
        </p:txBody>
      </p:sp>
      <p:sp>
        <p:nvSpPr>
          <p:cNvPr id="46" name="Text 33"/>
          <p:cNvSpPr/>
          <p:nvPr/>
        </p:nvSpPr>
        <p:spPr>
          <a:xfrm>
            <a:off x="6355080" y="52692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инструменты графа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9832975" y="4918075"/>
            <a:ext cx="1517650" cy="882650"/>
          </a:xfrm>
          <a:prstGeom prst="roundRect">
            <a:avLst>
              <a:gd name="adj" fmla="val 11151"/>
            </a:avLst>
          </a:prstGeom>
          <a:solidFill>
            <a:srgbClr val="15142A"/>
          </a:solidFill>
          <a:ln w="6350">
            <a:solidFill>
              <a:srgbClr val="3E3565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961880" y="5021582"/>
            <a:ext cx="1310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Telegram</a:t>
            </a:r>
            <a:endParaRPr lang="en-US" sz="1400" dirty="0"/>
          </a:p>
        </p:txBody>
      </p:sp>
      <p:sp>
        <p:nvSpPr>
          <p:cNvPr id="49" name="Text 36"/>
          <p:cNvSpPr/>
          <p:nvPr/>
        </p:nvSpPr>
        <p:spPr>
          <a:xfrm>
            <a:off x="9961880" y="5269232"/>
            <a:ext cx="1310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оповещения о связях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СЛОВАРЬ РОЛЕЙ · ФАКТИЧЕСКИЙ ПРОГОН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Шесть ролей, шесть правил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3380264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13868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5280" y="2141221"/>
            <a:ext cx="12340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Координатор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5280" y="2379982"/>
            <a:ext cx="12340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 узел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1080" y="2697482"/>
            <a:ext cx="2970054" cy="563880"/>
          </a:xfrm>
          <a:prstGeom prst="roundRect">
            <a:avLst>
              <a:gd name="adj" fmla="val 13514"/>
            </a:avLst>
          </a:prstGeom>
          <a:solidFill>
            <a:srgbClr val="0B1220"/>
          </a:solidFill>
          <a:ln/>
        </p:spPr>
      </p:sp>
      <p:sp>
        <p:nvSpPr>
          <p:cNvPr id="9" name="Text 6"/>
          <p:cNvSpPr/>
          <p:nvPr/>
        </p:nvSpPr>
        <p:spPr>
          <a:xfrm>
            <a:off x="1122680" y="2773682"/>
            <a:ext cx="2849859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betweenness ≥ p99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кластеров ≥ 2 · хабов ≥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1080" y="3362961"/>
            <a:ext cx="3059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Связывает сообщества и хабы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5789" y="1958975"/>
            <a:ext cx="3380343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0894" y="213868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5094" y="2141221"/>
            <a:ext cx="13316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Консолидатор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195094" y="2379982"/>
            <a:ext cx="13316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5CF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узлов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0894" y="2697482"/>
            <a:ext cx="2970133" cy="358140"/>
          </a:xfrm>
          <a:prstGeom prst="roundRect">
            <a:avLst>
              <a:gd name="adj" fmla="val 21277"/>
            </a:avLst>
          </a:prstGeom>
          <a:solidFill>
            <a:srgbClr val="0B1220"/>
          </a:solidFill>
          <a:ln/>
        </p:spPr>
      </p:sp>
      <p:sp>
        <p:nvSpPr>
          <p:cNvPr id="16" name="Text 12"/>
          <p:cNvSpPr/>
          <p:nvPr/>
        </p:nvSpPr>
        <p:spPr>
          <a:xfrm>
            <a:off x="4712494" y="2773682"/>
            <a:ext cx="284994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in_deg ≥ 5 отправителей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10894" y="3157221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Собирает деньги от многих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995682" y="1958975"/>
            <a:ext cx="3380343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0787" y="213868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84987" y="2141221"/>
            <a:ext cx="15393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Распределитель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784987" y="2379982"/>
            <a:ext cx="15393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A34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47 узлов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00787" y="2697482"/>
            <a:ext cx="2970133" cy="358140"/>
          </a:xfrm>
          <a:prstGeom prst="roundRect">
            <a:avLst>
              <a:gd name="adj" fmla="val 21277"/>
            </a:avLst>
          </a:prstGeom>
          <a:solidFill>
            <a:srgbClr val="0B1220"/>
          </a:solidFill>
          <a:ln/>
        </p:spPr>
      </p:sp>
      <p:sp>
        <p:nvSpPr>
          <p:cNvPr id="23" name="Text 18"/>
          <p:cNvSpPr/>
          <p:nvPr/>
        </p:nvSpPr>
        <p:spPr>
          <a:xfrm>
            <a:off x="8302387" y="2773682"/>
            <a:ext cx="284994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out_deg ≥ 10 получателей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00787" y="3157221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Веерная рассылка средств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5975" y="4003675"/>
            <a:ext cx="3380264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1080" y="4183379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5280" y="4185921"/>
            <a:ext cx="767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Транзит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5280" y="4424679"/>
            <a:ext cx="767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C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69 узлов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021080" y="4742179"/>
            <a:ext cx="2970054" cy="358140"/>
          </a:xfrm>
          <a:prstGeom prst="roundRect">
            <a:avLst>
              <a:gd name="adj" fmla="val 21277"/>
            </a:avLst>
          </a:prstGeom>
          <a:solidFill>
            <a:srgbClr val="0B1220"/>
          </a:solidFill>
          <a:ln/>
        </p:spPr>
      </p:sp>
      <p:sp>
        <p:nvSpPr>
          <p:cNvPr id="30" name="Text 24"/>
          <p:cNvSpPr/>
          <p:nvPr/>
        </p:nvSpPr>
        <p:spPr>
          <a:xfrm>
            <a:off x="1122680" y="4818379"/>
            <a:ext cx="284985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 ≤ out/in ≤ 1.2 · не seed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21080" y="5201921"/>
            <a:ext cx="3059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Пропускает деньги, не удерживая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405789" y="4003675"/>
            <a:ext cx="3380343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0894" y="4183379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95094" y="4185921"/>
            <a:ext cx="20224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Конечный получатель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195094" y="4424679"/>
            <a:ext cx="20224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C79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 узлов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610894" y="4742179"/>
            <a:ext cx="2970133" cy="563880"/>
          </a:xfrm>
          <a:prstGeom prst="roundRect">
            <a:avLst>
              <a:gd name="adj" fmla="val 13514"/>
            </a:avLst>
          </a:prstGeom>
          <a:solidFill>
            <a:srgbClr val="0B1220"/>
          </a:solidFill>
          <a:ln/>
        </p:spPr>
      </p:sp>
      <p:sp>
        <p:nvSpPr>
          <p:cNvPr id="37" name="Text 30"/>
          <p:cNvSpPr/>
          <p:nvPr/>
        </p:nvSpPr>
        <p:spPr>
          <a:xfrm>
            <a:off x="4712494" y="4818379"/>
            <a:ext cx="284994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 = 0 · вход ≥ 300 тыс ₸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колено ≤ 3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610894" y="5407664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Деньги приходят и остаются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995682" y="4003675"/>
            <a:ext cx="3380343" cy="1835150"/>
          </a:xfrm>
          <a:prstGeom prst="roundRect">
            <a:avLst>
              <a:gd name="adj" fmla="val 674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00787" y="4183379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784987" y="4185921"/>
            <a:ext cx="10664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Периферия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8784987" y="4424679"/>
            <a:ext cx="10664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B3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1 956 узлов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8200787" y="4742179"/>
            <a:ext cx="2970133" cy="358140"/>
          </a:xfrm>
          <a:prstGeom prst="roundRect">
            <a:avLst>
              <a:gd name="adj" fmla="val 21277"/>
            </a:avLst>
          </a:prstGeom>
          <a:solidFill>
            <a:srgbClr val="0B1220"/>
          </a:solidFill>
          <a:ln/>
        </p:spPr>
      </p:sp>
      <p:sp>
        <p:nvSpPr>
          <p:cNvPr id="44" name="Text 36"/>
          <p:cNvSpPr/>
          <p:nvPr/>
        </p:nvSpPr>
        <p:spPr>
          <a:xfrm>
            <a:off x="8302387" y="4818379"/>
            <a:ext cx="284994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FD8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ни одно правило не сработало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8200787" y="5201921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Признаков роли не выявлено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МЕТОДИКА ROLES-V1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Два прохода классификации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5175250" cy="2477770"/>
          </a:xfrm>
          <a:prstGeom prst="roundRect">
            <a:avLst>
              <a:gd name="adj" fmla="val 499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189479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C9B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ПРОХОД 1 · БАЗОВЫЕ РОЛИ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2529842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Сила s = признак / порог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2961642"/>
            <a:ext cx="4803343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Правило срабатывает при s ≥ 1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Побеждает правило с наибольшей силой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Ничья: consolidator → distributor → transit → terminal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Альтернативы сохраняются в карточке узла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958975"/>
            <a:ext cx="5175250" cy="2477770"/>
          </a:xfrm>
          <a:prstGeom prst="roundRect">
            <a:avLst>
              <a:gd name="adj" fmla="val 4997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680" y="2189479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B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ПРОХОД 2 · КООРДИНАТОР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6680" y="2529842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Все три условия сразу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56680" y="2961642"/>
            <a:ext cx="480334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Посредничество в топ-1% графа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Связи минимум с 2 другими кластерами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Минимум 2 хаба среди соседей</a:t>
            </a:r>
            <a:endParaRPr lang="en-US" sz="1400" dirty="0"/>
          </a:p>
          <a:p>
            <a:pPr algn="l" marL="213360" indent="-1821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Базовая роль остаётся в base_role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5052696"/>
            <a:ext cx="10560050" cy="786130"/>
          </a:xfrm>
          <a:prstGeom prst="roundRect">
            <a:avLst>
              <a:gd name="adj" fmla="val 15751"/>
            </a:avLst>
          </a:prstGeom>
          <a:solidFill>
            <a:srgbClr val="0F2A22"/>
          </a:solidFill>
          <a:ln w="6350">
            <a:solidFill>
              <a:srgbClr val="1F5C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1880" y="5321300"/>
            <a:ext cx="285689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role_score = min(1, s / 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50360" y="5232400"/>
            <a:ext cx="71788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9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пороге 0.5, при двукратном превышении 1.0 · колено 4: × 0.8 · изолят: 0.3. Это соответствие правилу, не вероятность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КОГО СМОТРЕТЬ ПЕРВЫМ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Формула приоритета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priority = Σ вес × перцентиль признака → нормировка к [0, 1]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692400"/>
            <a:ext cx="2641600" cy="762000"/>
          </a:xfrm>
          <a:prstGeom prst="rect">
            <a:avLst/>
          </a:prstGeom>
          <a:solidFill>
            <a:srgbClr val="3DE3A1"/>
          </a:solidFill>
          <a:ln/>
        </p:spPr>
      </p:sp>
      <p:sp>
        <p:nvSpPr>
          <p:cNvPr id="6" name="Text 4"/>
          <p:cNvSpPr/>
          <p:nvPr/>
        </p:nvSpPr>
        <p:spPr>
          <a:xfrm>
            <a:off x="1760696" y="2895600"/>
            <a:ext cx="796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25%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54400" y="2692400"/>
            <a:ext cx="2113280" cy="762000"/>
          </a:xfrm>
          <a:prstGeom prst="rect">
            <a:avLst/>
          </a:prstGeom>
          <a:solidFill>
            <a:srgbClr val="AC9BF3"/>
          </a:solidFill>
          <a:ln/>
        </p:spPr>
      </p:sp>
      <p:sp>
        <p:nvSpPr>
          <p:cNvPr id="8" name="Text 6"/>
          <p:cNvSpPr/>
          <p:nvPr/>
        </p:nvSpPr>
        <p:spPr>
          <a:xfrm>
            <a:off x="4123134" y="2895600"/>
            <a:ext cx="826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567680" y="2692400"/>
            <a:ext cx="1584960" cy="762000"/>
          </a:xfrm>
          <a:prstGeom prst="rect">
            <a:avLst/>
          </a:prstGeom>
          <a:solidFill>
            <a:srgbClr val="60C9DF"/>
          </a:solidFill>
          <a:ln/>
        </p:spPr>
      </p:sp>
      <p:sp>
        <p:nvSpPr>
          <p:cNvPr id="10" name="Text 8"/>
          <p:cNvSpPr/>
          <p:nvPr/>
        </p:nvSpPr>
        <p:spPr>
          <a:xfrm>
            <a:off x="6027261" y="2895600"/>
            <a:ext cx="7165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152640" y="2692400"/>
            <a:ext cx="1584960" cy="762000"/>
          </a:xfrm>
          <a:prstGeom prst="rect">
            <a:avLst/>
          </a:prstGeom>
          <a:solidFill>
            <a:srgbClr val="E5CF64"/>
          </a:solidFill>
          <a:ln/>
        </p:spPr>
      </p:sp>
      <p:sp>
        <p:nvSpPr>
          <p:cNvPr id="12" name="Text 10"/>
          <p:cNvSpPr/>
          <p:nvPr/>
        </p:nvSpPr>
        <p:spPr>
          <a:xfrm>
            <a:off x="7612221" y="2895600"/>
            <a:ext cx="7165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37600" y="2692400"/>
            <a:ext cx="2641600" cy="762000"/>
          </a:xfrm>
          <a:prstGeom prst="rect">
            <a:avLst/>
          </a:prstGeom>
          <a:solidFill>
            <a:srgbClr val="FF6B74"/>
          </a:solidFill>
          <a:ln/>
        </p:spPr>
      </p:sp>
      <p:sp>
        <p:nvSpPr>
          <p:cNvPr id="14" name="Text 12"/>
          <p:cNvSpPr/>
          <p:nvPr/>
        </p:nvSpPr>
        <p:spPr>
          <a:xfrm>
            <a:off x="9685496" y="2895600"/>
            <a:ext cx="7966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6140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800" y="3606800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Входящий поток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8709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in_kzt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135121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Сколько денег сошлось в узел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67100" y="3606800"/>
            <a:ext cx="20824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Посредничество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67100" y="3870964"/>
            <a:ext cx="20824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C9B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betweenness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67100" y="4135121"/>
            <a:ext cx="208249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сколько путей идут деньги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15940" y="3606800"/>
            <a:ext cx="15671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Мосты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15940" y="3870964"/>
            <a:ext cx="15671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0C9D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n_nbr_clusters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15940" y="4135121"/>
            <a:ext cx="15671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Сколько сообществ связывает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33920" y="3606800"/>
            <a:ext cx="15671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Охват seed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33920" y="3870964"/>
            <a:ext cx="15671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5CF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seed_reach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3920" y="4135121"/>
            <a:ext cx="15671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скольких seed дошли деньги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51900" y="3606800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Роль × уверенность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51900" y="3870964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role_weight × 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51900" y="4135121"/>
            <a:ext cx="26031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Координатор 1.0 … периферия 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5975" y="5052696"/>
            <a:ext cx="5175250" cy="786130"/>
          </a:xfrm>
          <a:prstGeom prst="roundRect">
            <a:avLst>
              <a:gd name="adj" fmla="val 15751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1080" y="5267964"/>
            <a:ext cx="87939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AC9BF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× 0.75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027476" y="5232400"/>
            <a:ext cx="38714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Seed уже известны — фокус смещается выше по цепочке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00775" y="5052696"/>
            <a:ext cx="5175250" cy="786130"/>
          </a:xfrm>
          <a:prstGeom prst="roundRect">
            <a:avLst>
              <a:gd name="adj" fmla="val 15751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5880" y="5267964"/>
            <a:ext cx="103449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1…2 248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567375" y="5232400"/>
            <a:ext cx="37116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Ранг у каждого узла, вклад каждой компоненты виден в карточке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Каждый вывод объясним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Шаблоны evidence из методики — пример формата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299339"/>
            <a:ext cx="5708650" cy="1050290"/>
          </a:xfrm>
          <a:prstGeom prst="roundRect">
            <a:avLst>
              <a:gd name="adj" fmla="val 11790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479042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5CF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Консолидатор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1080" y="2743200"/>
            <a:ext cx="5457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«Признаки консолидации: 11 отправителей (порог 5), вход 1,2 млн ₸; дальше ушло 3%»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3482975"/>
            <a:ext cx="5708650" cy="1050290"/>
          </a:xfrm>
          <a:prstGeom prst="roundRect">
            <a:avLst>
              <a:gd name="adj" fmla="val 11790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080" y="3662679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0C9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Транзит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1080" y="3926842"/>
            <a:ext cx="5457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«Признаки транзита: дальше ушло 97% входа (коридор 80–120%), 2 отправителя → 3 получателя»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4666617"/>
            <a:ext cx="5708650" cy="1050290"/>
          </a:xfrm>
          <a:prstGeom prst="roundRect">
            <a:avLst>
              <a:gd name="adj" fmla="val 11790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4846321"/>
            <a:ext cx="5457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C79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Конечный получатель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1080" y="5110479"/>
            <a:ext cx="5457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«Гипотеза конечного получателя: вход 420 тыс ₸ от 3 отправителей, исходящих нет; колено 2, обход не обрывался»</a:t>
            </a:r>
            <a:endParaRPr lang="en-US" sz="1200" dirty="0"/>
          </a:p>
        </p:txBody>
      </p:sp>
      <p:pic>
        <p:nvPicPr>
          <p:cNvPr id="1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4200" y="1955800"/>
            <a:ext cx="254000" cy="254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1955800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200 символов, детерминированно, без LLM</a:t>
            </a:r>
            <a:endParaRPr lang="en-US" sz="1400" dirty="0"/>
          </a:p>
        </p:txBody>
      </p:sp>
      <p:pic>
        <p:nvPicPr>
          <p:cNvPr id="1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34200" y="2574292"/>
            <a:ext cx="254000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574292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Оговорки: колено 4, неполные входы seed, внешние поступления, изолят</a:t>
            </a:r>
            <a:endParaRPr lang="en-US" sz="1400" dirty="0"/>
          </a:p>
        </p:txBody>
      </p:sp>
      <p:pic>
        <p:nvPicPr>
          <p:cNvPr id="18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34200" y="3436621"/>
            <a:ext cx="254000" cy="254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3436621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 запрещённых слов: «организатор», «виновен», «преступник»</a:t>
            </a:r>
            <a:endParaRPr lang="en-US" sz="1400" dirty="0"/>
          </a:p>
        </p:txBody>
      </p:sp>
      <p:pic>
        <p:nvPicPr>
          <p:cNvPr id="20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4200" y="4298950"/>
            <a:ext cx="254000" cy="254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298950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в топе: две сильнейшие компоненты приоритета и что проверить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934200" y="5161279"/>
            <a:ext cx="4445000" cy="680720"/>
          </a:xfrm>
          <a:prstGeom prst="roundRect">
            <a:avLst>
              <a:gd name="adj" fmla="val 14925"/>
            </a:avLst>
          </a:prstGeom>
          <a:solidFill>
            <a:srgbClr val="3DE3A1"/>
          </a:solidFill>
          <a:ln/>
        </p:spPr>
      </p:sp>
      <p:sp>
        <p:nvSpPr>
          <p:cNvPr id="23" name="Text 17"/>
          <p:cNvSpPr/>
          <p:nvPr/>
        </p:nvSpPr>
        <p:spPr>
          <a:xfrm>
            <a:off x="7086600" y="5288279"/>
            <a:ext cx="426440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 — гипотезы для проверки, а не утверждения о виновности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LOUVAIN · SEED 42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Кластеры и гипотезы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28778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428242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кластер у 2 248 узлов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51479"/>
            <a:ext cx="28778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800" y="3423921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компонент: 16 связных + 19 изолятов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947164"/>
            <a:ext cx="28778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2800" y="4419600"/>
            <a:ext cx="28778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кластеров содержат больше одного seed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156200"/>
            <a:ext cx="2877820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1 877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2800" y="5628642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узлов в крупнейшей компоненте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13200" y="1955800"/>
          <a:ext cx="7366000" cy="3210560"/>
        </p:xfrm>
        <a:graphic>
          <a:graphicData uri="http://schemas.openxmlformats.org/drawingml/2006/table">
            <a:tbl>
              <a:tblPr/>
              <a:tblGrid>
                <a:gridCol w="2799080"/>
                <a:gridCol w="4566920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AA6B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Условие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3DE3A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Гипотеза кластера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C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узел без переводов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Изолированный узел, данных недостаточно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≥ 2 seed и хаб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Сбор средств от N seed с концентрацией у хаба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распределители &gt; 50% выхода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Веерное распределение на N получателей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транзит ≥ 30% узлов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Транзитная цепочка без удержания средств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фрагмент ≤ 17 узлов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Изолированный фрагмент вне основной сети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 seed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Фрагмент без seed на дальнем колене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иначе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DF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Смешанная структура — нужен ручной разбор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4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013200" y="5328921"/>
            <a:ext cx="758698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Срабатывает первое правило сверху вниз. Для каждого кластера — размер, число seed, внутренний оборот и топ-5 gid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канала для аналитика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3380264" cy="3879850"/>
          </a:xfrm>
          <a:prstGeom prst="roundRect">
            <a:avLst>
              <a:gd name="adj" fmla="val 3663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189479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080" y="2672079"/>
            <a:ext cx="30591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Веб-сайт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1080" y="3027679"/>
            <a:ext cx="3059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· TS · Cytoscape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1080" y="3368042"/>
            <a:ext cx="3059155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Граф с направлением потоков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по полному gid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Фильтры: роль, кластер, приоритет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Карточка узла с evidence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уровней приоритета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 · KZ · EN и выгрузка CSV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5789" y="1958975"/>
            <a:ext cx="3380343" cy="3879850"/>
          </a:xfrm>
          <a:prstGeom prst="roundRect">
            <a:avLst>
              <a:gd name="adj" fmla="val 3663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10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0894" y="2189479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0894" y="2672079"/>
            <a:ext cx="305923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AI-агент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10894" y="3027679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Responses API · tools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10894" y="3368042"/>
            <a:ext cx="3059237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Вопрос на естественном языке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инструментов над снимком графа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со ссылками #gid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Проверка каждого gid и числа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 ключа — отключается, остальное работает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5682" y="1958975"/>
            <a:ext cx="3380343" cy="3879850"/>
          </a:xfrm>
          <a:prstGeom prst="roundRect">
            <a:avLst>
              <a:gd name="adj" fmla="val 3663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15" name="Image 2" descr="PaperPla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0787" y="2189479"/>
            <a:ext cx="355600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0787" y="2672079"/>
            <a:ext cx="305923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Telegram-бот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200787" y="3027679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@FreedomGraphbot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00787" y="3368042"/>
            <a:ext cx="3059237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Личные оповещения о новых связях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Активация по коду команды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Пауза, возобновление, «Принято к проверке»</a:t>
            </a:r>
            <a:endParaRPr lang="en-US" sz="1200" dirty="0"/>
          </a:p>
          <a:p>
            <a:pPr algn="l" marL="182880" indent="-1615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Реальные данные — только с согласия владельца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ВОПРОС → ИНСТРУМЕНТЫ → ОТВЕТ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AI-агент аналитика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5708650" cy="3879850"/>
          </a:xfrm>
          <a:prstGeom prst="roundRect">
            <a:avLst>
              <a:gd name="adj" fmla="val 3846"/>
            </a:avLst>
          </a:prstGeom>
          <a:solidFill>
            <a:srgbClr val="0E1627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8705" y="2189479"/>
            <a:ext cx="3955415" cy="502920"/>
          </a:xfrm>
          <a:prstGeom prst="roundRect">
            <a:avLst>
              <a:gd name="adj" fmla="val 25253"/>
            </a:avLst>
          </a:prstGeom>
          <a:solidFill>
            <a:srgbClr val="2A2547"/>
          </a:solidFill>
          <a:ln/>
        </p:spPr>
      </p:sp>
      <p:sp>
        <p:nvSpPr>
          <p:cNvPr id="6" name="Text 4"/>
          <p:cNvSpPr/>
          <p:nvPr/>
        </p:nvSpPr>
        <p:spPr>
          <a:xfrm>
            <a:off x="2516505" y="2316479"/>
            <a:ext cx="3707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собирает деньги с этих пятерых seed?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49655" y="2847975"/>
            <a:ext cx="3582670" cy="344170"/>
          </a:xfrm>
          <a:prstGeom prst="roundRect">
            <a:avLst>
              <a:gd name="adj" fmla="val 21218"/>
            </a:avLst>
          </a:prstGeom>
          <a:solidFill>
            <a:srgbClr val="0F2A22"/>
          </a:solidFill>
          <a:ln w="6350">
            <a:solidFill>
              <a:srgbClr val="1F5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3160" y="2913380"/>
            <a:ext cx="34769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common_downstream(5 gid, глубина ≤ 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9655" y="3274696"/>
            <a:ext cx="1944370" cy="344170"/>
          </a:xfrm>
          <a:prstGeom prst="roundRect">
            <a:avLst>
              <a:gd name="adj" fmla="val 21218"/>
            </a:avLst>
          </a:prstGeom>
          <a:solidFill>
            <a:srgbClr val="0F2A22"/>
          </a:solidFill>
          <a:ln w="6350">
            <a:solidFill>
              <a:srgbClr val="1F5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3160" y="3340101"/>
            <a:ext cx="17894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get_node(кандидаты)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9655" y="3777617"/>
            <a:ext cx="5241290" cy="1082040"/>
          </a:xfrm>
          <a:prstGeom prst="roundRect">
            <a:avLst>
              <a:gd name="adj" fmla="val 11444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360" y="3931922"/>
            <a:ext cx="502833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Общего получателя для всех пяти в глубине 4 не найдено. Лучшие кандидаты охватывают 2 из 5 источников — ссылки #gid ведут на карточки.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6480" y="5015229"/>
            <a:ext cx="54050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итогам живой проверки 23.09 на gpt-4.1-mini</a:t>
            </a:r>
            <a:endParaRPr lang="en-US" sz="1200" dirty="0"/>
          </a:p>
        </p:txBody>
      </p:sp>
      <p:pic>
        <p:nvPicPr>
          <p:cNvPr id="14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4200" y="1955800"/>
            <a:ext cx="254000" cy="254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1955800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Модель не видит граф целиком — только ответы 7 инструментов</a:t>
            </a:r>
            <a:endParaRPr lang="en-US" sz="1400" dirty="0"/>
          </a:p>
        </p:txBody>
      </p:sp>
      <p:pic>
        <p:nvPicPr>
          <p:cNvPr id="16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34200" y="2924814"/>
            <a:ext cx="254000" cy="254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924814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gid и число в ответе сверяются с данными</a:t>
            </a:r>
            <a:endParaRPr lang="en-US" sz="1400" dirty="0"/>
          </a:p>
        </p:txBody>
      </p:sp>
      <p:pic>
        <p:nvPicPr>
          <p:cNvPr id="18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34200" y="3893821"/>
            <a:ext cx="254000" cy="254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3893821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5 шагов и 30 секунд, история — 6 сообщений</a:t>
            </a:r>
            <a:endParaRPr lang="en-US" sz="1400" dirty="0"/>
          </a:p>
        </p:txBody>
      </p:sp>
      <p:pic>
        <p:nvPicPr>
          <p:cNvPr id="20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4200" y="4618992"/>
            <a:ext cx="254000" cy="254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618992"/>
            <a:ext cx="41859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 только на сервере; роли и score агент не меняет</a:t>
            </a:r>
            <a:endParaRPr lang="en-US" sz="1400" dirty="0"/>
          </a:p>
        </p:txBody>
      </p:sp>
      <p:pic>
        <p:nvPicPr>
          <p:cNvPr id="22" name="Image 4" descr="Trus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34200" y="5588000"/>
            <a:ext cx="254000" cy="254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5588000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Сбой LLM не затрагивает граф, CSV и API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НАДЁЖНОСТЬ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Воспроизводимо и быстро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5284724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3DE3A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&lt; 30 с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2832100"/>
            <a:ext cx="528472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расчёт и публикация на ноутбуке при лимите ТЗ 300 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400" y="1955800"/>
            <a:ext cx="5284724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248400" y="2832100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побайтово одинаковые CSV при повторном запуске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34742"/>
            <a:ext cx="5284724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12800" y="4511042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автотестов проходят: ядро графа, AI-агент, 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8400" y="3634742"/>
            <a:ext cx="5284724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248400" y="4511042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предупреждений валидации на выданных данных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5225417"/>
            <a:ext cx="10560050" cy="613410"/>
          </a:xfrm>
          <a:prstGeom prst="roundRect">
            <a:avLst>
              <a:gd name="adj" fmla="val 20186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13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5405121"/>
            <a:ext cx="254000" cy="25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27480" y="5407664"/>
            <a:ext cx="77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-m backend.run_pipeline </a:t>
            </a:r>
            <a:r>
              <a:rPr lang="en-US" sz="14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r>
              <a:rPr lang="en-US" sz="1400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400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nodes_roles · clusters · top_nodes.csv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MUST HAVE 5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Покрытие ТЗ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558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ОБЯЗАТЕЛЬНОЕ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273933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20627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3800" y="2423158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Пайплайн одной командой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46992" y="2402842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9" name="Text 6"/>
          <p:cNvSpPr/>
          <p:nvPr/>
        </p:nvSpPr>
        <p:spPr>
          <a:xfrm>
            <a:off x="5261292" y="2440942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2800" y="2822575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11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969258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3800" y="2971800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Роль и score у всех 2 248 узлов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146992" y="2951485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14" name="Text 10"/>
          <p:cNvSpPr/>
          <p:nvPr/>
        </p:nvSpPr>
        <p:spPr>
          <a:xfrm>
            <a:off x="5261292" y="2989585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2800" y="3371217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16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517900"/>
            <a:ext cx="254000" cy="254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93800" y="3520442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Правила ролей с порогами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146992" y="3500127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19" name="Text 14"/>
          <p:cNvSpPr/>
          <p:nvPr/>
        </p:nvSpPr>
        <p:spPr>
          <a:xfrm>
            <a:off x="5261292" y="3538227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2800" y="3919860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21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066542"/>
            <a:ext cx="254000" cy="254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93800" y="4069085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Кластеры с гипотезами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146992" y="4048758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24" name="Text 18"/>
          <p:cNvSpPr/>
          <p:nvPr/>
        </p:nvSpPr>
        <p:spPr>
          <a:xfrm>
            <a:off x="5261292" y="4086858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12800" y="4468502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26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4615185"/>
            <a:ext cx="254000" cy="254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93800" y="4617727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Топ-20 и схема потоков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146992" y="4597400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29" name="Text 22"/>
          <p:cNvSpPr/>
          <p:nvPr/>
        </p:nvSpPr>
        <p:spPr>
          <a:xfrm>
            <a:off x="5261292" y="4635500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299200" y="19558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A6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ОПЦИОНАЛЬНОЕ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99200" y="2273933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32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99200" y="2420627"/>
            <a:ext cx="254000" cy="2540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80200" y="2423158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Учёт обрыва 4-го колена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10633393" y="2402842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35" name="Text 27"/>
          <p:cNvSpPr/>
          <p:nvPr/>
        </p:nvSpPr>
        <p:spPr>
          <a:xfrm>
            <a:off x="10747693" y="2440942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299200" y="2822575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37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99200" y="2969258"/>
            <a:ext cx="254000" cy="2540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680200" y="2971800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AI-ассистент аналитика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10633393" y="2951485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40" name="Text 31"/>
          <p:cNvSpPr/>
          <p:nvPr/>
        </p:nvSpPr>
        <p:spPr>
          <a:xfrm>
            <a:off x="10747693" y="2989585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6299200" y="3371217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42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99200" y="3517900"/>
            <a:ext cx="254000" cy="2540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680200" y="3520442"/>
            <a:ext cx="394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Карточка узла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10633393" y="3500127"/>
            <a:ext cx="745808" cy="289560"/>
          </a:xfrm>
          <a:prstGeom prst="roundRect">
            <a:avLst>
              <a:gd name="adj" fmla="val 50000"/>
            </a:avLst>
          </a:prstGeom>
          <a:solidFill>
            <a:srgbClr val="3DE3A1"/>
          </a:solidFill>
          <a:ln/>
        </p:spPr>
      </p:sp>
      <p:sp>
        <p:nvSpPr>
          <p:cNvPr id="45" name="Text 35"/>
          <p:cNvSpPr/>
          <p:nvPr/>
        </p:nvSpPr>
        <p:spPr>
          <a:xfrm>
            <a:off x="10747693" y="3538227"/>
            <a:ext cx="568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140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готово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6299200" y="3919860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47" name="Image 8" descr="Activity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99200" y="4066542"/>
            <a:ext cx="254000" cy="2540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680200" y="4069085"/>
            <a:ext cx="3739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полноты данных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10437495" y="4048758"/>
            <a:ext cx="941705" cy="289560"/>
          </a:xfrm>
          <a:prstGeom prst="roundRect">
            <a:avLst>
              <a:gd name="adj" fmla="val 50000"/>
            </a:avLst>
          </a:prstGeom>
          <a:solidFill>
            <a:srgbClr val="E5CF64"/>
          </a:solidFill>
          <a:ln/>
        </p:spPr>
      </p:sp>
      <p:sp>
        <p:nvSpPr>
          <p:cNvPr id="50" name="Text 39"/>
          <p:cNvSpPr/>
          <p:nvPr/>
        </p:nvSpPr>
        <p:spPr>
          <a:xfrm>
            <a:off x="10551795" y="4086858"/>
            <a:ext cx="7639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1A0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частично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6299200" y="4468502"/>
            <a:ext cx="5080000" cy="0"/>
          </a:xfrm>
          <a:prstGeom prst="line">
            <a:avLst/>
          </a:prstGeom>
          <a:noFill/>
          <a:ln w="6350">
            <a:solidFill>
              <a:srgbClr val="22304A"/>
            </a:solidFill>
            <a:prstDash val="solid"/>
          </a:ln>
        </p:spPr>
      </p:sp>
      <p:pic>
        <p:nvPicPr>
          <p:cNvPr id="52" name="Image 9" descr="Clock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99200" y="4615185"/>
            <a:ext cx="254000" cy="2540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680200" y="4617727"/>
            <a:ext cx="3798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Время, циклы, устойчивость</a:t>
            </a:r>
            <a:endParaRPr lang="en-US" sz="1400" dirty="0"/>
          </a:p>
        </p:txBody>
      </p:sp>
      <p:sp>
        <p:nvSpPr>
          <p:cNvPr id="54" name="Shape 42"/>
          <p:cNvSpPr/>
          <p:nvPr/>
        </p:nvSpPr>
        <p:spPr>
          <a:xfrm>
            <a:off x="10495200" y="4597400"/>
            <a:ext cx="883999" cy="289560"/>
          </a:xfrm>
          <a:prstGeom prst="roundRect">
            <a:avLst>
              <a:gd name="adj" fmla="val 50000"/>
            </a:avLst>
          </a:prstGeom>
          <a:solidFill>
            <a:srgbClr val="22304A"/>
          </a:solidFill>
          <a:ln/>
        </p:spPr>
      </p:sp>
      <p:sp>
        <p:nvSpPr>
          <p:cNvPr id="55" name="Text 43"/>
          <p:cNvSpPr/>
          <p:nvPr/>
        </p:nvSpPr>
        <p:spPr>
          <a:xfrm>
            <a:off x="10609500" y="4635500"/>
            <a:ext cx="7061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ED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планах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ПОТЕНЦИАЛ РАЗВИТИЯ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Масштаб и следующие шаги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975"/>
            <a:ext cx="5175250" cy="3879850"/>
          </a:xfrm>
          <a:prstGeom prst="roundRect">
            <a:avLst>
              <a:gd name="adj" fmla="val 3191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89485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3680" y="2189485"/>
            <a:ext cx="18893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1 млн узлов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1880" y="2646685"/>
            <a:ext cx="4803343" cy="183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igraph, graph-tool или CSR вместо networkx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Приближённый betweenness с фиксированным seed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Louvain и достижимость по компонентам, параллельно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Иерархическая раскладка по кластерам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отдаёт подграфы — браузер не грузит миллион узлов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1958975"/>
            <a:ext cx="5175250" cy="3879850"/>
          </a:xfrm>
          <a:prstGeom prst="roundRect">
            <a:avLst>
              <a:gd name="adj" fmla="val 3191"/>
            </a:avLst>
          </a:prstGeom>
          <a:solidFill>
            <a:srgbClr val="111A2C"/>
          </a:solidFill>
          <a:ln w="6350">
            <a:solidFill>
              <a:srgbClr val="22304A"/>
            </a:solidFill>
            <a:prstDash val="solid"/>
          </a:ln>
        </p:spPr>
      </p:sp>
      <p:pic>
        <p:nvPicPr>
          <p:cNvPr id="9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6680" y="218948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8480" y="2189485"/>
            <a:ext cx="20002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Новые сигналы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56680" y="2646685"/>
            <a:ext cx="4803343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Сквозной транзит за 1–2 дня и синхронные переводы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Циклы и возвратные потоки: в данных уже 1 541 цикл длиной до 6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Устойчивость: что станет с сетью без топ-N узлов</a:t>
            </a:r>
            <a:endParaRPr lang="en-US" sz="1400" dirty="0"/>
          </a:p>
          <a:p>
            <a:pPr algn="l" marL="213360" indent="-1821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Личные права, отзыв доступа и аудит для бота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· Команда Ascend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еть денежных переводов: потоки сходятся в узлы консолидации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5461000" y="0"/>
            <a:ext cx="6731000" cy="6858000"/>
          </a:xfrm>
          <a:prstGeom prst="rect">
            <a:avLst/>
          </a:prstGeom>
        </p:spPr>
      </p:pic>
      <p:pic>
        <p:nvPicPr>
          <p:cNvPr id="3" name="Image 1" descr="Логотип Freedom Graph">    </p:cNvPr>
          <p:cNvPicPr>
            <a:picLocks noChangeAspect="1"/>
          </p:cNvPicPr>
          <p:nvPr/>
        </p:nvPicPr>
        <p:blipFill>
          <a:blip r:embed="rId2"/>
          <a:srcRect l="0" r="0" t="-1948" b="-1948"/>
          <a:stretch/>
        </p:blipFill>
        <p:spPr>
          <a:xfrm>
            <a:off x="812800" y="812800"/>
            <a:ext cx="762000" cy="762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289808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E3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СПАСИБО ЗА ВНИМАНИЕ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812800" y="2706377"/>
            <a:ext cx="6540500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 81 «курьера» —</a:t>
            </a:r>
            <a:endParaRPr lang="en-US" sz="3200" dirty="0"/>
          </a:p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 точкам консолидации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812800" y="4311650"/>
            <a:ext cx="562483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8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Freedom Graph ранжирует всю сеть, объясняет каждую роль и работает офлайн на обычном ноутбуке.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554228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3D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github.com/BAITC-Hacks/hack-0b94fdb6-ascend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2800" y="58318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AA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 — гипотезы для проверки, а не выводы о виновности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Freedom Graph — Граф денег</dc:title>
  <dc:subject>PptxGenJS Presentation</dc:subject>
  <dc:creator>PptxGenJS</dc:creator>
  <cp:lastModifiedBy>PptxGenJS</cp:lastModifiedBy>
  <cp:revision>1</cp:revision>
  <dcterms:created xsi:type="dcterms:W3CDTF">2026-09-23T11:45:18Z</dcterms:created>
  <dcterms:modified xsi:type="dcterms:W3CDTF">2026-09-23T11:45:18Z</dcterms:modified>
</cp:coreProperties>
</file>